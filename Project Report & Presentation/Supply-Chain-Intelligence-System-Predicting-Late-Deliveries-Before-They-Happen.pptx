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edger"/>
      <p:regular r:id="rId201314"/>
    </p:embeddedFont>
    <p:embeddedFont>
      <p:font typeface="Mozilla Text"/>
      <p:regular r:id="rId201315"/>
    </p:embeddedFont>
    <p:embeddedFont>
      <p:font typeface="Mozilla Text Medium"/>
      <p:regular r:id="rId201316"/>
    </p:embeddedFont>
    <p:embeddedFont>
      <p:font typeface="Mozilla Tex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machine learning system built to detect delivery delays proactively rather than reacting after orders miss promised arrival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operational baseline: over 54% of orders miss promised delivery windows, putting 2.1 million dollars of profit at risk across 172k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technical lifecycle from data ingestion to user deployment. Emphasize that stripping target-leaking fields was critical for a realistic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counter-intuitive finding: premium paid tiers experience catastrophic lateness rates. The root cause is unrealistic SLA commitments rather than transit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that delays are systemic, not seasonal. Highlight how delay duration directly erodes unit profit margins from twenty-three dollars down to nineteen seventy.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model performance metrics. The Random Forest achieves 79% precision and 75% recall, outperforming simple majority class guessing by 17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machine learning results are deployed into daily operations. Page 1 delivers high-level visibility; Page 2 provides order-level predictive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four-stage rollout strategy. Emphasize starting with a single fulfillment team to prove ROI before expanding network-wide.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methodological boundaries with transparency while presenting concrete engineering solutions: SHAP values, external data signals, and automated pipeline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and invite questions from the audience, sharing direct access links to the live Streamlit application and GitHub code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C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lychainproject-ppfvwhuketoasrjbsmqcsl.streamlit.app/" TargetMode="External"/><Relationship Id="rId2" Type="http://schemas.openxmlformats.org/officeDocument/2006/relationships/hyperlink" Target="https://github.com/mayanksingh2108" TargetMode="External"/><Relationship Id="rId3" Type="http://schemas.openxmlformats.org/officeDocument/2006/relationships/image" Target="../media/image-10-1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988"/>
            <a:ext cx="543546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Supply Chain Intelligence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785811"/>
            <a:ext cx="5435464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Predicting Late Deliveries Before They Happen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2203946"/>
            <a:ext cx="589265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An end-to-end analytics and machine learning system for delivery risk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585" y="5551091"/>
            <a:ext cx="205228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Author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5829697"/>
            <a:ext cx="205228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Mayank Singh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66566" y="5551091"/>
            <a:ext cx="307848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66566" y="5829697"/>
            <a:ext cx="307848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Diagnostic &amp; Predictive ML Platform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9585" y="6161961"/>
            <a:ext cx="589265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End-to-End Delivery Risk Architecture · 2026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847624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More than half of orders arrive late, and we learn only after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375277"/>
            <a:ext cx="342891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F8A4C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54.70%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3183235"/>
            <a:ext cx="3428914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Late delivery rate across the entire global fulfillment network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5688" y="2375277"/>
            <a:ext cx="3200320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F8A4C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$2.1M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495688" y="3183235"/>
            <a:ext cx="3200320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Operating profit directly at risk from delayed customer orders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53196" y="2375277"/>
            <a:ext cx="342891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172,000+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53196" y="3183235"/>
            <a:ext cx="3428914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Historical fulfillment orders analyzed across multi-year history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85" y="3948410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4138339"/>
            <a:ext cx="2400240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Quantify the problem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09585" y="4867374"/>
            <a:ext cx="2400240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Measure network-wide delivery performance baseline.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67013" y="3948410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3" name="Text 11"/>
          <p:cNvSpPr/>
          <p:nvPr/>
        </p:nvSpPr>
        <p:spPr>
          <a:xfrm>
            <a:off x="3467013" y="4138339"/>
            <a:ext cx="2400240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Locate bottlenecks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3467013" y="4566642"/>
            <a:ext cx="2400240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Isolate failure drivers across carrier shipping modes.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4442" y="3948410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6" name="Text 14"/>
          <p:cNvSpPr/>
          <p:nvPr/>
        </p:nvSpPr>
        <p:spPr>
          <a:xfrm>
            <a:off x="6324442" y="4138339"/>
            <a:ext cx="2400240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Predict at-risk orders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24442" y="4867374"/>
            <a:ext cx="2400240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Classify risk using strictly order-time parameters.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81870" y="3948410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9" name="Text 17"/>
          <p:cNvSpPr/>
          <p:nvPr/>
        </p:nvSpPr>
        <p:spPr>
          <a:xfrm>
            <a:off x="9181870" y="4138339"/>
            <a:ext cx="2400240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Deliver in one app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181870" y="4566642"/>
            <a:ext cx="2400240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Arm planners with real-time operational interventions.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60743" y="2305745"/>
            <a:ext cx="12700" cy="1337866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2" name="Shape 20"/>
          <p:cNvSpPr/>
          <p:nvPr/>
        </p:nvSpPr>
        <p:spPr>
          <a:xfrm>
            <a:off x="7918252" y="2305745"/>
            <a:ext cx="12700" cy="1337866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3" name="Text 21"/>
          <p:cNvSpPr/>
          <p:nvPr/>
        </p:nvSpPr>
        <p:spPr>
          <a:xfrm>
            <a:off x="11574471" y="6444952"/>
            <a:ext cx="617224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Five steps turn raw orders into a deployed predictor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367459"/>
            <a:ext cx="906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2693491"/>
            <a:ext cx="3454314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783407"/>
            <a:ext cx="3454314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cleaning and leakage removal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09585" y="3512443"/>
            <a:ext cx="345431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Keeps the model honest.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68691" y="2367459"/>
            <a:ext cx="94444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68691" y="2693491"/>
            <a:ext cx="3454314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9" name="Text 7"/>
          <p:cNvSpPr/>
          <p:nvPr/>
        </p:nvSpPr>
        <p:spPr>
          <a:xfrm>
            <a:off x="4368691" y="2783407"/>
            <a:ext cx="3454314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Frequency encoding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8691" y="3211711"/>
            <a:ext cx="34543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Handles high-cardinality categories compactly.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7797" y="2367459"/>
            <a:ext cx="9456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27797" y="2693491"/>
            <a:ext cx="3454314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3" name="Text 11"/>
          <p:cNvSpPr/>
          <p:nvPr/>
        </p:nvSpPr>
        <p:spPr>
          <a:xfrm>
            <a:off x="8127797" y="2783407"/>
            <a:ext cx="3454314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SMOTE class balancing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127797" y="3211711"/>
            <a:ext cx="34543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Stops the model ignoring the minority class.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9585" y="4084241"/>
            <a:ext cx="9469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9585" y="4410273"/>
            <a:ext cx="533386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4500190"/>
            <a:ext cx="5333867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RandomizedSearchCV tuning of a Random Forest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09585" y="5229225"/>
            <a:ext cx="5333867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Finds strong settings efficiently.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48244" y="4084241"/>
            <a:ext cx="9479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8244" y="4410273"/>
            <a:ext cx="533386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1" name="Text 19"/>
          <p:cNvSpPr/>
          <p:nvPr/>
        </p:nvSpPr>
        <p:spPr>
          <a:xfrm>
            <a:off x="6248244" y="4500190"/>
            <a:ext cx="533386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Streamlit deployment with a saved .pkl model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248244" y="4928493"/>
            <a:ext cx="5333867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Puts predictions in planners' hands.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573875" y="6444952"/>
            <a:ext cx="61782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685782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Shipping mode drives lateness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195467"/>
            <a:ext cx="71118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Late delivery rate (%) by fulfilled shipping mode across 172,000+ orders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48606"/>
            <a:ext cx="6730832" cy="41928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75400" y="1437620"/>
            <a:ext cx="360671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Faster paid tiers miss promised dates most often.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975400" y="2805609"/>
            <a:ext cx="3606710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7" name="Text 4"/>
          <p:cNvSpPr/>
          <p:nvPr/>
        </p:nvSpPr>
        <p:spPr>
          <a:xfrm>
            <a:off x="7975400" y="3035796"/>
            <a:ext cx="3606710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First Class failed 100% of promised delivery targets, and Second Class missed 79.7%. Meanwhile, Same Day orders recorded no lateness.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75400" y="4121646"/>
            <a:ext cx="3606710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This reveals unrealistic lead-time scheduling promises rather than pure carrier handling delays.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75400" y="5079385"/>
            <a:ext cx="3606710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Figure 1. Empirical delivery failure by shipping mode.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573280" y="6444952"/>
            <a:ext cx="61841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5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Delays are short, systemic and costly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34262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25203"/>
            <a:ext cx="525766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40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3 days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2290366"/>
            <a:ext cx="548626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90th percentile delay is only 3 days.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24442" y="1577261"/>
            <a:ext cx="52576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Monthly late rate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24442" y="2031206"/>
            <a:ext cx="525766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Holds at about 54.1% to 55.5%, so no strong seasonality. Points to process-driven bottlenecks, not peak-season capacity or random outliers.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585" y="4143653"/>
            <a:ext cx="52576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Profit at risk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597598"/>
            <a:ext cx="525766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$7.9M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total profit;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$2.1M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profit at risk;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$21.97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average order profit.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24442" y="4143653"/>
            <a:ext cx="52576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Mean profit per order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24442" y="4597598"/>
            <a:ext cx="525766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Falls from about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$23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(2 days early) to about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$19.7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(3 days late).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89498" y="1572816"/>
            <a:ext cx="12700" cy="2337792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5" y="3904258"/>
            <a:ext cx="5486263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3910608"/>
            <a:ext cx="12700" cy="2337792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3904258"/>
            <a:ext cx="5486263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6" name="Text 14"/>
          <p:cNvSpPr/>
          <p:nvPr/>
        </p:nvSpPr>
        <p:spPr>
          <a:xfrm>
            <a:off x="11572883" y="6444952"/>
            <a:ext cx="61881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847624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The model catches about 3 in 4 late orders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342436"/>
            <a:ext cx="342891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74%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3150394"/>
            <a:ext cx="3428914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Overall accuracy on 34,553 held-out test orders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5688" y="2342436"/>
            <a:ext cx="3200320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F8A4C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79%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495688" y="3150394"/>
            <a:ext cx="3200320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Precision on late orders: 79 of 100 flagged are truly late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53196" y="2342436"/>
            <a:ext cx="342891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FF8A4C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75%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53196" y="3150394"/>
            <a:ext cx="3428914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Recall on late orders: flags 3 in 4 delayed deliveries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864769"/>
          <a:ext cx="5958631" cy="914400"/>
        </p:xfrm>
        <a:graphic>
          <a:graphicData uri="http://schemas.openxmlformats.org/drawingml/2006/table">
            <a:tbl>
              <a:tblPr/>
              <a:tblGrid>
                <a:gridCol w="2025897"/>
                <a:gridCol w="1310845"/>
                <a:gridCol w="1310845"/>
                <a:gridCol w="1311044"/>
              </a:tblGrid>
              <a:tr h="476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Fulfillment status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Precision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Recall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F1-Score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On-Time Orders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0.68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0.73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0.70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Late Delivery Risk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F8A4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0.79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F8A4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0.75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F8A4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0.77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09585" y="5402838"/>
            <a:ext cx="595863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Evaluated on 34,553 held-out test orders (57.3% base late rate).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25305" y="4145558"/>
            <a:ext cx="455680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Beats a naive majority-class baseline by </a:t>
            </a:r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17 percentage points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25305" y="4759920"/>
            <a:ext cx="4556805" cy="19050"/>
          </a:xfrm>
          <a:prstGeom prst="roundRect">
            <a:avLst>
              <a:gd name="adj" fmla="val 49999"/>
            </a:avLst>
          </a:prstGeom>
          <a:solidFill>
            <a:srgbClr val="3E5553"/>
          </a:solidFill>
          <a:ln/>
        </p:spPr>
      </p:sp>
      <p:sp>
        <p:nvSpPr>
          <p:cNvPr id="13" name="Text 10"/>
          <p:cNvSpPr/>
          <p:nvPr/>
        </p:nvSpPr>
        <p:spPr>
          <a:xfrm>
            <a:off x="7025305" y="4933434"/>
            <a:ext cx="4556805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Dispatch teams adjust classification probability thresholds based on expedited freight costs versus SLA penalty liabilities.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60743" y="2272903"/>
            <a:ext cx="12700" cy="1337866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Shape 12"/>
          <p:cNvSpPr/>
          <p:nvPr/>
        </p:nvSpPr>
        <p:spPr>
          <a:xfrm>
            <a:off x="7918252" y="2272903"/>
            <a:ext cx="12700" cy="1337866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6" name="Text 13"/>
          <p:cNvSpPr/>
          <p:nvPr/>
        </p:nvSpPr>
        <p:spPr>
          <a:xfrm>
            <a:off x="11572685" y="6444952"/>
            <a:ext cx="619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727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One app, two pages: diagnose and predict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061641"/>
            <a:ext cx="5240107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spc="58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a · Performance Dashboard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9585" y="1430238"/>
            <a:ext cx="5240107" cy="2364482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430238"/>
            <a:ext cx="5240107" cy="2364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896320"/>
            <a:ext cx="5240107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KPIs, profit vs delivery time, bottleneck detection, monthly trends and strategic insights; filters for region, segment and shipping mode.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06781" y="1061641"/>
            <a:ext cx="5275329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spc="58" kern="100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b · Prediction Engine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6781" y="1430238"/>
            <a:ext cx="5275329" cy="2364581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781" y="1430238"/>
            <a:ext cx="5275329" cy="23645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6781" y="3896420"/>
            <a:ext cx="5275329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Enter nine order details to get delay probability, an at-risk or on-time verdict, and fulfillment recommendations.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09585" y="5031879"/>
            <a:ext cx="10972526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Architecture: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Order data and training notebook → saved model → Streamlit app serving both pages → leaders and planners.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583202" y="6444952"/>
            <a:ext cx="608493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Pilot first, then scale across the network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183751"/>
            <a:ext cx="10972526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Four disciplined deployment phases spanning retail, manufacturing, and third-party logistics.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2881709"/>
            <a:ext cx="906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207742"/>
            <a:ext cx="251453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97658"/>
            <a:ext cx="251453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Phase 1: Diagnose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3725962"/>
            <a:ext cx="2514537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Audit First and Second Class scheduling lead times; reconcile promises with carrier transit realities.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8914" y="2881709"/>
            <a:ext cx="94444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8914" y="3207742"/>
            <a:ext cx="251453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3297658"/>
            <a:ext cx="251453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Phase 2: Pilot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428914" y="3725962"/>
            <a:ext cx="2514537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Deploy the at-risk flag with a single fulfillment pod; track alert response compliance and rerouting costs.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48244" y="2881709"/>
            <a:ext cx="9456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8244" y="3207742"/>
            <a:ext cx="251453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297658"/>
            <a:ext cx="251453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Phase 3: Scale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48244" y="3725962"/>
            <a:ext cx="2514537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Roll out web portal across regional distribution hubs; tie predictions into weekly OTIF operational reviews.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67573" y="2881709"/>
            <a:ext cx="9469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67573" y="3207742"/>
            <a:ext cx="251453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3297658"/>
            <a:ext cx="251453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Phase 4: Optimize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067573" y="3725962"/>
            <a:ext cx="2514537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Automate carrier switching logic; benchmark quarterly reduction in profit at risk against baseline targets.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9585" y="6161961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Execution targets: On-Time Delivery (OTD) · SLA Compliance · On-Time In-Full (OTIF)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71693" y="6444952"/>
            <a:ext cx="62000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958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Known limits point to a clear next-step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694061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Model &amp; Data Limitations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73756"/>
            <a:ext cx="355591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7572" y="2227187"/>
            <a:ext cx="4749681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Single dataset scope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117572" y="2655491"/>
            <a:ext cx="4749681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Trained on one source environment; distribution shifts need retraining.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473014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7572" y="3426444"/>
            <a:ext cx="4749681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Synthetic SMOTE samples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117572" y="3854748"/>
            <a:ext cx="4749681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Oversampling balances classes, but performance must be continually audited on live data.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672271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7572" y="4625701"/>
            <a:ext cx="4749681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Probabilistic outputs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117572" y="5054005"/>
            <a:ext cx="4749681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Confidence scores estimate likelihood, not deterministic arrival certainty.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324442" y="1694061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Engineering Next Steps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273756"/>
            <a:ext cx="355591" cy="355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32429" y="2227187"/>
            <a:ext cx="4749681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SHAP explainability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832429" y="2655491"/>
            <a:ext cx="4749681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Surface order-level feature contributions to explain why specific shipments flag as high-risk.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3473014"/>
            <a:ext cx="355591" cy="355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32429" y="3426444"/>
            <a:ext cx="4749681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Contextual feature enrichment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6832429" y="3854748"/>
            <a:ext cx="4749681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Integrate real-time carrier congestion, weather events, and warehouse backlog signals.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672271"/>
            <a:ext cx="355591" cy="355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2429" y="4625701"/>
            <a:ext cx="4749681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Automated retraining &amp; REST API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6832429" y="5054005"/>
            <a:ext cx="4749681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Implement scheduled model drift re-fitting and programmatic ERP integration.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09585" y="3261916"/>
            <a:ext cx="5257668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4" name="Shape 16"/>
          <p:cNvSpPr/>
          <p:nvPr/>
        </p:nvSpPr>
        <p:spPr>
          <a:xfrm>
            <a:off x="609585" y="4461173"/>
            <a:ext cx="5257668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5" name="Shape 17"/>
          <p:cNvSpPr/>
          <p:nvPr/>
        </p:nvSpPr>
        <p:spPr>
          <a:xfrm>
            <a:off x="6324442" y="3261916"/>
            <a:ext cx="5257668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6" name="Shape 18"/>
          <p:cNvSpPr/>
          <p:nvPr/>
        </p:nvSpPr>
        <p:spPr>
          <a:xfrm>
            <a:off x="6324442" y="4461173"/>
            <a:ext cx="5257668" cy="1270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7" name="Text 19"/>
          <p:cNvSpPr/>
          <p:nvPr/>
        </p:nvSpPr>
        <p:spPr>
          <a:xfrm>
            <a:off x="11572685" y="6444952"/>
            <a:ext cx="61901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160"/>
            <a:ext cx="543546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14" kern="10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Thank you /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4939407"/>
            <a:ext cx="543546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u="sng" dirty="0">
                <a:solidFill>
                  <a:srgbClr val="FF8A4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https://supplychainproject-ppfvwhuketoasrjbsmqcsl.streamlit.app/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09585" y="5879802"/>
            <a:ext cx="543546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u="sng" dirty="0">
                <a:solidFill>
                  <a:srgbClr val="FF8A4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https://github.com/mayanksingh2108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5670252"/>
            <a:ext cx="5435464" cy="12700"/>
          </a:xfrm>
          <a:prstGeom prst="rect">
            <a:avLst/>
          </a:prstGeom>
          <a:solidFill>
            <a:srgbClr val="3E55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8A4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2026-10-17T19:29:46Z</dcterms:created>
  <dcterms:modified xsi:type="dcterms:W3CDTF">2026-10-17T19:29:46Z</dcterms:modified>
</cp:coreProperties>
</file>